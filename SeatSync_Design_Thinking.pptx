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B1524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SHOWING · BENGALURU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SeatSync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our way out of “Sold Out” — a Design Thinking walkthrough of the SeatSync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241A32"/>
          </a:solidFill>
          <a:ln w="12700">
            <a:solidFill>
              <a:srgbClr val="A6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EMPATHIZE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4663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41A32"/>
          </a:solidFill>
          <a:ln w="12700">
            <a:solidFill>
              <a:srgbClr val="A6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4663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4663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41A32"/>
          </a:solidFill>
          <a:ln w="12700">
            <a:solidFill>
              <a:srgbClr val="A6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4663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466344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241A32"/>
          </a:solidFill>
          <a:ln w="12700">
            <a:solidFill>
              <a:srgbClr val="A6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4663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43800" y="4663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41A32"/>
          </a:solidFill>
          <a:ln w="12700">
            <a:solidFill>
              <a:srgbClr val="A6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4663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Project · Design Thinking Module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EMPATHIZE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 movie in Bengaluru still hurts in small, familiar 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B1524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66928" cy="566928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749808" y="2898648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“Sold Out” is a dead end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stops at sold-out. Nobody tells you a seat opens up in 20 minutes when someone cancels.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B1524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148840"/>
            <a:ext cx="566928" cy="566928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3611880" y="2898648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maps without judgment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grid of taken/available seats — but no help figuring out which of the open ones is actually good.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B1524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1384" y="2148840"/>
            <a:ext cx="566928" cy="566928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6473952" y="2898648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demand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73952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tell that Recliner is about to sell out, or that 80 people are already waiting for the same show.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606040" cy="3246120"/>
          </a:xfrm>
          <a:prstGeom prst="roundRect">
            <a:avLst>
              <a:gd name="adj" fmla="val 3158"/>
            </a:avLst>
          </a:prstGeom>
          <a:solidFill>
            <a:srgbClr val="1B1524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2148840"/>
            <a:ext cx="566928" cy="566928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9336024" y="2898648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as an afterthought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36024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and companion seats are rarely surfaced clearly, if at all, in the booking flow.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SPONSOR USERS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around real moviegoers, not a spec sheet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Design Thinking practice calls this a “Sponsor User” — a real person whose problem anchors every decision, contacted continuously rather than surveyed once. For SeatSync, that meant sitting with people who had actually been turned away by a sold-out show in the last month.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5577840" cy="2194560"/>
          </a:xfrm>
          <a:prstGeom prst="roundRect">
            <a:avLst>
              <a:gd name="adj" fmla="val 3750"/>
            </a:avLst>
          </a:prstGeom>
          <a:solidFill>
            <a:srgbClr val="1B1524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just want a text the second a seat frees up — I'll take it.”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don't know if the recliner seat I picked is even good.”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“Wheelchair seating shouldn't be something I have to hunt for.”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783080"/>
            <a:ext cx="5120640" cy="4343400"/>
          </a:xfrm>
          <a:prstGeom prst="roundRect">
            <a:avLst>
              <a:gd name="adj" fmla="val 2105"/>
            </a:avLst>
          </a:prstGeom>
          <a:solidFill>
            <a:srgbClr val="241A32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stayed close to users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2606040"/>
            <a:ext cx="384048" cy="384048"/>
          </a:xfrm>
          <a:prstGeom prst="ellipse">
            <a:avLst/>
          </a:prstGeom>
          <a:solidFill>
            <a:srgbClr val="8B3FF5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25511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weekly check-ins  </a:t>
            </a:r>
            <a:pPr indent="0" marL="0"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5 moviegoers, not a one-time survey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3383280"/>
            <a:ext cx="384048" cy="384048"/>
          </a:xfrm>
          <a:prstGeom prst="ellipse">
            <a:avLst/>
          </a:prstGeom>
          <a:solidFill>
            <a:srgbClr val="8B3FF5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33284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them book  </a:t>
            </a:r>
            <a:pPr indent="0" marL="0"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existing apps, noting every hesitation and re-tap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4160520"/>
            <a:ext cx="384048" cy="384048"/>
          </a:xfrm>
          <a:prstGeom prst="ellipse">
            <a:avLst/>
          </a:prstGeom>
          <a:solidFill>
            <a:srgbClr val="8B3FF5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41056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paper flows  </a:t>
            </a:r>
            <a:pPr indent="0" marL="0"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waitlist idea before writing a line of code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4937760"/>
            <a:ext cx="384048" cy="384048"/>
          </a:xfrm>
          <a:prstGeom prst="ellipse">
            <a:avLst/>
          </a:prstGeom>
          <a:solidFill>
            <a:srgbClr val="8B3FF5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0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48828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 running “Hill”  </a:t>
            </a:r>
            <a:pPr indent="0" marL="0"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the whole team could repeat from memory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DEFINE — THE HILL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 the whole team could build against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0" cy="2286000"/>
          </a:xfrm>
          <a:prstGeom prst="roundRect">
            <a:avLst>
              <a:gd name="adj" fmla="val 4800"/>
            </a:avLst>
          </a:prstGeom>
          <a:solidFill>
            <a:srgbClr val="241A32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51460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Bengaluru moviegoer facing a sold-out show can join a real waitlist for the exact seats they want, and get a text the moment one opens — without refreshing the app all night.”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3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moviegoer, not “users” in the abstract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3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waitlist and get notified    </a:t>
            </a:r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</a:t>
            </a:r>
            <a:pPr indent="0" marL="0">
              <a:buNone/>
            </a:pPr>
            <a:r>
              <a:rPr lang="en-US" sz="13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refreshing, no more dead ends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that follows exists to make this one sentence true — the same discipline IBM applied with mandatory Hills on every initiative, not just flagship projects.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IDEATE → PROTOTYPE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SeatSync feature traces back to one user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990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INSIGHT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0" y="1399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SEATSYNC RESPONSE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768096"/>
          </a:xfrm>
          <a:prstGeom prst="rect">
            <a:avLst/>
          </a:prstGeom>
          <a:solidFill>
            <a:srgbClr val="1B1524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keep refreshing, hoping a seat opens.”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856232"/>
            <a:ext cx="0" cy="621792"/>
          </a:xfrm>
          <a:prstGeom prst="line">
            <a:avLst/>
          </a:prstGeom>
          <a:noFill/>
          <a:ln w="12700">
            <a:solidFill>
              <a:srgbClr val="3A2E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78308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waitlist with SMS the instant a seat frees up, plus a visible queue position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don't know which open seat is actually good.”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697480"/>
            <a:ext cx="0" cy="621792"/>
          </a:xfrm>
          <a:prstGeom prst="line">
            <a:avLst/>
          </a:prstGeom>
          <a:noFill/>
          <a:ln w="12700">
            <a:solidFill>
              <a:srgbClr val="3A2E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624328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Center-weighted “Recommended Seats” picks the best sightline automatically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11064240" cy="768096"/>
          </a:xfrm>
          <a:prstGeom prst="rect">
            <a:avLst/>
          </a:prstGeom>
          <a:solidFill>
            <a:srgbClr val="1B1524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65576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“Recliner sells out and I never see it coming.”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3538728"/>
            <a:ext cx="0" cy="621792"/>
          </a:xfrm>
          <a:prstGeom prst="line">
            <a:avLst/>
          </a:prstGeom>
          <a:noFill/>
          <a:ln w="12700">
            <a:solidFill>
              <a:srgbClr val="3A2E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465576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“most booked tier” note showing exactly which premium seats are already gone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306824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“Accessible seating is buried or missing.”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4379976"/>
            <a:ext cx="0" cy="621792"/>
          </a:xfrm>
          <a:prstGeom prst="line">
            <a:avLst/>
          </a:prstGeom>
          <a:noFill/>
          <a:ln w="12700">
            <a:solidFill>
              <a:srgbClr val="3A2E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306824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wheelchair + companion row, clearly marked in the seat map itself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68096"/>
          </a:xfrm>
          <a:prstGeom prst="rect">
            <a:avLst/>
          </a:prstGeom>
          <a:solidFill>
            <a:srgbClr val="1B1524"/>
          </a:solidFill>
          <a:ln w="12700">
            <a:solidFill>
              <a:srgbClr val="1B1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48072"/>
            <a:ext cx="4892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“Pricing feels like a surprise at checkout.”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5221224"/>
            <a:ext cx="0" cy="621792"/>
          </a:xfrm>
          <a:prstGeom prst="line">
            <a:avLst/>
          </a:prstGeom>
          <a:noFill/>
          <a:ln w="12700">
            <a:solidFill>
              <a:srgbClr val="3A2E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5148072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transparent tiers — Classic / Prime / Recliner — shown before you pick a seat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PROTOTYPE → TEST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prototyped the real flow, not a mockup of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was built as a working interactive prototype — real seat math, real countdowns — so the team could test the actual moment of friction: joining a waitlist and waiting for a 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241A32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834640"/>
            <a:ext cx="457200" cy="457200"/>
          </a:xfrm>
          <a:prstGeom prst="ellipse">
            <a:avLst/>
          </a:prstGeom>
          <a:solidFill>
            <a:srgbClr val="8B3FF5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4747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93192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Bengaluru theatres &amp; showtimes, with live waiting counts per show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81528" y="3794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9272" y="260604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241A32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834640"/>
            <a:ext cx="457200" cy="457200"/>
          </a:xfrm>
          <a:prstGeom prst="ellipse">
            <a:avLst/>
          </a:prstGeom>
          <a:solidFill>
            <a:srgbClr val="8B3FF5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seats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93192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seat map, tiered pricing, recommended picks highlighted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52160" y="3794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89904" y="260604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241A32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834640"/>
            <a:ext cx="457200" cy="457200"/>
          </a:xfrm>
          <a:prstGeom prst="ellipse">
            <a:avLst/>
          </a:prstGeom>
          <a:solidFill>
            <a:srgbClr val="8B3FF5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91072" y="34747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waitlist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393192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number, one tap — confirms your exact seats and position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22792" y="3794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860536" y="2606040"/>
            <a:ext cx="2514600" cy="2834640"/>
          </a:xfrm>
          <a:prstGeom prst="roundRect">
            <a:avLst>
              <a:gd name="adj" fmla="val 3273"/>
            </a:avLst>
          </a:prstGeom>
          <a:solidFill>
            <a:srgbClr val="241A32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1704" y="2834640"/>
            <a:ext cx="457200" cy="457200"/>
          </a:xfrm>
          <a:prstGeom prst="ellipse">
            <a:avLst/>
          </a:prstGeom>
          <a:solidFill>
            <a:srgbClr val="8B3FF5"/>
          </a:solidFill>
          <a:ln/>
        </p:spPr>
      </p:sp>
      <p:sp>
        <p:nvSpPr>
          <p:cNvPr id="25" name="Text 23"/>
          <p:cNvSpPr/>
          <p:nvPr/>
        </p:nvSpPr>
        <p:spPr>
          <a:xfrm>
            <a:off x="9061704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61704" y="347472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notified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61704" y="393192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SMS countdown mirrors a real carrier delay, then delivers the text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tested: whether people trusted a waitlist enough to walk away from the app. Watching real check-ins told us the countdown and clear position number were what made that trust possible.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PRINCIPLES WE HELD ONTO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thinking discipline, not just a design thinking vocabulary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B1524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2286000"/>
            <a:ext cx="640080" cy="640080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431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Hills over specs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waitlist Hill was written before any UI existed, and every scope debate was resolved by asking whether it still served that sentence.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B1524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92140" y="2286000"/>
            <a:ext cx="640080" cy="640080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21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52628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Users over surveys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8862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moviegoers, checked in with weekly, shaped the seat recommendation logic — not an internal guess at “what users want.”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B1524"/>
          </a:solidFill>
          <a:ln w="12700">
            <a:solidFill>
              <a:srgbClr val="3A2E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1180" y="2286000"/>
            <a:ext cx="640080" cy="640080"/>
          </a:xfrm>
          <a:prstGeom prst="ellipse">
            <a:avLst/>
          </a:prstGeom>
          <a:solidFill>
            <a:srgbClr val="241A32"/>
          </a:solidFill>
          <a:ln w="19050">
            <a:solidFill>
              <a:srgbClr val="A6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11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27532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over output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8862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isn't “we shipped a seat map.” It's “did the waitlisted person actually get seated” — a single metric the whole team tracks.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SCALING QUALITY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loop running as SeatSync grows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589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Sponsor User check-ins continuous across every new theatre chain we onboard, not a one-time interview round</a:t>
            </a:r>
            <a:endParaRPr lang="en-US" sz="1500" dirty="0"/>
          </a:p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a Hill for every new feature — including small ones — before any build work starts</a:t>
            </a:r>
            <a:endParaRPr lang="en-US" sz="1500" dirty="0"/>
          </a:p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one shared outcome metric across the team: % of waitlisted users who actually get seated</a:t>
            </a:r>
            <a:endParaRPr lang="en-US" sz="1500" dirty="0"/>
          </a:p>
          <a:p>
            <a:pPr marL="254000" indent="-2540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F5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real booking data back into the recommended-seats model so it keeps matching real preferences, not our first guess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778240" y="2011680"/>
            <a:ext cx="2834640" cy="3931920"/>
          </a:xfrm>
          <a:prstGeom prst="roundRect">
            <a:avLst>
              <a:gd name="adj" fmla="val 3226"/>
            </a:avLst>
          </a:prstGeom>
          <a:solidFill>
            <a:srgbClr val="241A32"/>
          </a:solidFill>
          <a:ln w="12700">
            <a:solidFill>
              <a:srgbClr val="39F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39F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STAR METRIC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0068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Waitlist→Seated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068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A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006840" y="36576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metric, reported the same way for every theatre — so we can see what's working and spread it, the way successful design-thinking programs keep score.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SeatSync  ·  Design Thinking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5F0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SeatSync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isn't a slide — it's the sentence we kept testing against.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9A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2026-07-15T13:17:28Z</dcterms:created>
  <dcterms:modified xsi:type="dcterms:W3CDTF">2026-07-15T13:17:28Z</dcterms:modified>
</cp:coreProperties>
</file>